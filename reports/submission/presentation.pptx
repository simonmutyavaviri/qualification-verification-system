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Introduce the team and state up front that the system is live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The asymmetry is the point — forgery is cheap, verification 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Point 3 is what shaped the architecture. Say 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Four results, not two — this is a design decision worth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The audit entry must commit in the same transaction as the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Three decisions, each defensible. Revoked-and-expired reports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Mention that gaps are documented. Examiners trust a report that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If you have done the conflict exercise, show it. The resolution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Integration on Postgres, not SQLite — SQLite silently allows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Not written to inflate the number — cli.py is excluded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workflow_run fires for failed runs too. Without that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Checks included registering a new credential live and verifying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This is the strongest slide in the deck. It shows genuine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Do not rush this slide. The critical evaluation carries real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/>
              <a:t>Qualification Verification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/>
              <a:t>A DevOps-Enabled Credential Verification Platform</a:t>
            </a:r>
          </a:p>
          <a:p>
            <a:pPr/>
            <a:r>
              <a:rPr sz="2000"/>
              <a:t>MIM736 Practical Assignment</a:t>
            </a:r>
          </a:p>
          <a:p>
            <a:pPr/>
            <a:r>
              <a:rPr sz="2000"/>
              <a:t>[NAME] · [NAME] · [NAME] · [NAME]</a:t>
            </a:r>
          </a:p>
          <a:p>
            <a:pPr/>
            <a:r>
              <a:rPr sz="2000"/>
              <a:t>Live: qvs-mim736.fly.dev</a:t>
            </a:r>
          </a:p>
          <a:p>
            <a:pPr/>
            <a:r>
              <a:rPr sz="2000"/>
              <a:t>and everything shown is the deployed system.*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/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/>
              <a:t>Verifying a qualification today</a:t>
            </a:r>
          </a:p>
          <a:p>
            <a:pPr/>
            <a:r>
              <a:rPr sz="2000"/>
              <a:t>Telephone or email a registry → wait days</a:t>
            </a:r>
          </a:p>
          <a:p>
            <a:pPr/>
            <a:r>
              <a:rPr sz="2000"/>
              <a:t>The answer arrives by email — itself unverifiable</a:t>
            </a:r>
          </a:p>
          <a:p>
            <a:pPr/>
            <a:r>
              <a:rPr sz="2000"/>
              <a:t>No record either party can later inspect</a:t>
            </a:r>
          </a:p>
          <a:p>
            <a:pPr/>
            <a:r>
              <a:rPr sz="2000"/>
              <a:t>Credential fraud is a documented, active market</a:t>
            </a:r>
          </a:p>
          <a:p>
            <a:pPr lvl="1"/>
            <a:r>
              <a:rPr sz="1700"/>
              <a:t>A forged certificate is easy. Checking one is hard.</a:t>
            </a:r>
          </a:p>
          <a:p>
            <a:pPr/>
            <a:r>
              <a:rPr sz="2000"/>
              <a:t>expensive, which is exactly why the fraud market exists.*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/>
              <a:t>What makes it hard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/>
              <a:t>1. Trust must be transferable — the verifier must be able to rely on, and</a:t>
            </a:r>
          </a:p>
          <a:p>
            <a:pPr/>
            <a:r>
              <a:rPr sz="2000"/>
              <a:t>later prove, the answer</a:t>
            </a:r>
          </a:p>
          <a:p>
            <a:pPr/>
            <a:r>
              <a:rPr sz="2000"/>
              <a:t>2. The answer changes over time — "was awarded" is the wrong question;</a:t>
            </a:r>
          </a:p>
          <a:p>
            <a:pPr/>
            <a:r>
              <a:rPr sz="2000"/>
              <a:t>"can be relied on now" is the right one</a:t>
            </a:r>
          </a:p>
          <a:p>
            <a:pPr/>
            <a:r>
              <a:rPr sz="2000"/>
              <a:t>3. The audit trail is part of the product — not logging, a requirement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/>
              <a:t>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sz="1700"/>
              <a:t>Register · Credentials, validated, with guaranteed-unique references</a:t>
            </a:r>
          </a:p>
          <a:p>
            <a:pPr lvl="1"/>
            <a:r>
              <a:rPr sz="1700"/>
              <a:t>Retrieve · Search and filter the register</a:t>
            </a:r>
          </a:p>
          <a:p>
            <a:pPr lvl="1"/>
            <a:r>
              <a:rPr sz="1700"/>
              <a:t>Verify · One reference in, one unambiguous result out</a:t>
            </a:r>
          </a:p>
          <a:p>
            <a:pPr lvl="1"/>
            <a:r>
              <a:rPr sz="1700"/>
              <a:t>Audit · An append-only record nobody can rewrite</a:t>
            </a:r>
          </a:p>
          <a:p>
            <a:pPr/>
            <a:r>
              <a:rPr sz="2000"/>
              <a:t>Plus: role-based access, revocation, and full DevOps automation.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/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/>
              <a:t>Three roles</a:t>
            </a:r>
          </a:p>
          <a:p>
            <a:pPr/>
            <a:r>
              <a:rPr sz="2000"/>
              <a:t>Verifier — check credentials, see their own history</a:t>
            </a:r>
          </a:p>
          <a:p>
            <a:pPr/>
            <a:r>
              <a:rPr sz="2000"/>
              <a:t>Issuer — register, edit, revoke</a:t>
            </a:r>
          </a:p>
          <a:p>
            <a:pPr/>
            <a:r>
              <a:rPr sz="2000"/>
              <a:t>Administrator — users, institutions, the audit trail</a:t>
            </a:r>
          </a:p>
          <a:p>
            <a:pPr/>
            <a:r>
              <a:rPr sz="2000"/>
              <a:t>Four verification results</a:t>
            </a:r>
          </a:p>
          <a:p>
            <a:pPr/>
            <a:r>
              <a:rPr sz="2000"/>
              <a:t>VALID · INVALID · REVOKED · EXPIRED</a:t>
            </a:r>
          </a:p>
          <a:p>
            <a:pPr/>
            <a:r>
              <a:rPr sz="2000"/>
              <a:t>defending, and slide 7 explains why.*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/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sz="1700"/>
              <a:t>Routes          thin controllers</a:t>
            </a:r>
          </a:p>
          <a:p>
            <a:pPr lvl="1"/>
            <a:r>
              <a:rPr sz="1700"/>
              <a:t>↓</a:t>
            </a:r>
          </a:p>
          <a:p>
            <a:pPr lvl="1"/>
            <a:r>
              <a:rPr sz="1700"/>
              <a:t>Services        rules · authorisation · transactions · audit</a:t>
            </a:r>
          </a:p>
          <a:p>
            <a:pPr lvl="1"/>
            <a:r>
              <a:rPr sz="1700"/>
              <a:t>↓</a:t>
            </a:r>
          </a:p>
          <a:p>
            <a:pPr lvl="1"/>
            <a:r>
              <a:rPr sz="1700"/>
              <a:t>Repositories    every query in the system</a:t>
            </a:r>
          </a:p>
          <a:p>
            <a:pPr lvl="1"/>
            <a:r>
              <a:rPr sz="1700"/>
              <a:t>↓</a:t>
            </a:r>
          </a:p>
          <a:p>
            <a:pPr lvl="1"/>
            <a:r>
              <a:rPr sz="1700"/>
              <a:t>Models          entities · constraints · indexes</a:t>
            </a:r>
          </a:p>
          <a:p>
            <a:pPr lvl="1"/>
            <a:r>
              <a:rPr sz="1700"/>
              <a:t>↓</a:t>
            </a:r>
          </a:p>
          <a:p>
            <a:pPr lvl="1"/>
            <a:r>
              <a:rPr sz="1700"/>
              <a:t>Database</a:t>
            </a:r>
          </a:p>
          <a:p>
            <a:pPr/>
            <a:r>
              <a:rPr sz="2000"/>
              <a:t>A layered monolith — deliberately not microservices.</a:t>
            </a:r>
          </a:p>
          <a:p>
            <a:pPr/>
            <a:r>
              <a:rPr sz="2000"/>
              <a:t>change it describes. Distributed transactions would introduce exactly the</a:t>
            </a:r>
          </a:p>
          <a:p>
            <a:pPr/>
            <a:r>
              <a:rPr sz="2000"/>
              <a:t>failure the system exists to prevent.*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/>
              <a:t>The verification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sz="1700"/>
              <a:t>credential ID → validate → look up → evaluate status</a:t>
            </a:r>
          </a:p>
          <a:p>
            <a:pPr lvl="1"/>
            <a:r>
              <a:rPr sz="1700"/>
              <a:t>→ result → verification record → audit record</a:t>
            </a:r>
          </a:p>
          <a:p>
            <a:pPr lvl="1"/>
            <a:r>
              <a:rPr sz="1700"/>
              <a:t>(one transaction)</a:t>
            </a:r>
          </a:p>
          <a:p>
            <a:pPr/>
            <a:r>
              <a:rPr sz="2000"/>
              <a:t>Revocation outranks expiry.</a:t>
            </a:r>
          </a:p>
          <a:p>
            <a:pPr/>
            <a:r>
              <a:rPr sz="2000"/>
              <a:t>Failed attempts are recorded too.</a:t>
            </a:r>
          </a:p>
          <a:p>
            <a:pPr/>
            <a:r>
              <a:rPr sz="2000"/>
              <a:t>INVALID discloses nothing.</a:t>
            </a:r>
          </a:p>
          <a:p>
            <a:pPr/>
            <a:r>
              <a:rPr sz="2000"/>
              <a:t>REVOKED because it is the more serious fact. Failed attempts are the fraud</a:t>
            </a:r>
          </a:p>
          <a:p>
            <a:pPr/>
            <a:r>
              <a:rPr sz="2000"/>
              <a:t>signal. INVALID showing nothing protects the register and the holder.*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/>
              <a:t>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/>
              <a:t>30 implemented controls, each with a verifying test</a:t>
            </a:r>
          </a:p>
          <a:p>
            <a:pPr/>
            <a:r>
              <a:rPr sz="2000"/>
              <a:t>PBKDF2 hashing · 12-char policy · enumeration resistance</a:t>
            </a:r>
          </a:p>
          <a:p>
            <a:pPr/>
            <a:r>
              <a:rPr sz="2000"/>
              <a:t>RBAC enforced at two layers — route *and* service</a:t>
            </a:r>
          </a:p>
          <a:p>
            <a:pPr/>
            <a:r>
              <a:rPr sz="2000"/>
              <a:t>CSRF · parameterised queries · security headers · HSTS</a:t>
            </a:r>
          </a:p>
          <a:p>
            <a:pPr/>
            <a:r>
              <a:rPr sz="2000"/>
              <a:t>Append-only audit trail — enforced, not documented</a:t>
            </a:r>
          </a:p>
          <a:p>
            <a:pPr/>
            <a:r>
              <a:rPr sz="2000"/>
              <a:t>Production refuses to start without real secrets</a:t>
            </a:r>
          </a:p>
          <a:p>
            <a:pPr/>
            <a:r>
              <a:rPr sz="2000"/>
              <a:t>7 documented gaps — named, not hidden</a:t>
            </a:r>
          </a:p>
          <a:p>
            <a:pPr/>
            <a:r>
              <a:rPr sz="2000"/>
              <a:t>admits weaknesses far more than one that claims perfection.*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/>
              <a:t>Git collaboration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sz="1700"/>
              <a:t>Issue → Branch → Commits → PR → CI → Review → Merge</a:t>
            </a:r>
          </a:p>
          <a:p>
            <a:pPr/>
            <a:r>
              <a:rPr sz="2000"/>
              <a:t>GitHub Flow with a develop integration branch</a:t>
            </a:r>
          </a:p>
          <a:p>
            <a:pPr/>
            <a:r>
              <a:rPr sz="2000"/>
              <a:t>Branch protection: 1 approval + code owners + quality gate</a:t>
            </a:r>
          </a:p>
          <a:p>
            <a:pPr/>
            <a:r>
              <a:rPr sz="2000"/>
              <a:t>Conventional Commits</a:t>
            </a:r>
          </a:p>
          <a:p>
            <a:pPr/>
            <a:r>
              <a:rPr sz="2000"/>
              <a:t>A genuine merge conflict, resolved by keeping both changes</a:t>
            </a:r>
          </a:p>
          <a:p>
            <a:pPr/>
            <a:r>
              <a:rPr sz="2000"/>
              <a:t>is never "pick a side".*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/>
              <a:t>CI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sz="1700"/>
              <a:t>Job · Gate</a:t>
            </a:r>
          </a:p>
          <a:p>
            <a:pPr lvl="1"/>
            <a:r>
              <a:rPr sz="1700"/>
              <a:t>quality · Ruff · Black · Bandit</a:t>
            </a:r>
          </a:p>
          <a:p>
            <a:pPr lvl="1"/>
            <a:r>
              <a:rPr sz="1700"/>
              <a:t>unit-tests · 177 tests</a:t>
            </a:r>
          </a:p>
          <a:p>
            <a:pPr lvl="1"/>
            <a:r>
              <a:rPr sz="1700"/>
              <a:t>integration-tests · 87 tests, on PostgreSQL 16</a:t>
            </a:r>
          </a:p>
          <a:p>
            <a:pPr lvl="1"/>
            <a:r>
              <a:rPr sz="1700"/>
              <a:t>coverage · 85% minimum</a:t>
            </a:r>
          </a:p>
          <a:p>
            <a:pPr lvl="1"/>
            <a:r>
              <a:rPr sz="1700"/>
              <a:t>docker-build · Build and run the container</a:t>
            </a:r>
          </a:p>
          <a:p>
            <a:pPr lvl="1"/>
            <a:r>
              <a:rPr sz="1700"/>
              <a:t>quality-gate · The single required check</a:t>
            </a:r>
          </a:p>
          <a:p>
            <a:pPr/>
            <a:r>
              <a:rPr sz="2000"/>
              <a:t>what Postgres rejects. And the Docker job runs the image, because one that</a:t>
            </a:r>
          </a:p>
          <a:p>
            <a:pPr/>
            <a:r>
              <a:rPr sz="2000"/>
              <a:t>builds but won't start is not a passing build.*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/>
              <a:t>264 tests · 92.69% coverage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/>
              <a:t>Unit (177) — validation, the decision table, business rules, audit</a:t>
            </a:r>
          </a:p>
          <a:p>
            <a:pPr/>
            <a:r>
              <a:rPr sz="2000"/>
              <a:t>immutability</a:t>
            </a:r>
          </a:p>
          <a:p>
            <a:pPr/>
            <a:r>
              <a:rPr sz="2000"/>
              <a:t>Integration (87) — full workflows, access control, security properties</a:t>
            </a:r>
          </a:p>
          <a:p>
            <a:pPr/>
            <a:r>
              <a:rPr sz="2000"/>
              <a:t>Negative cases carry equal weight</a:t>
            </a:r>
          </a:p>
          <a:p>
            <a:pPr/>
            <a:r>
              <a:rPr sz="2000"/>
              <a:t>Coverage is a gate, not a target</a:t>
            </a:r>
          </a:p>
          <a:p>
            <a:pPr/>
            <a:r>
              <a:rPr sz="2000"/>
              <a:t>deliberately. Testing the negative is what matters: proving a verifier gets 403.*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/>
              <a:t>Continuous 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sz="1700"/>
              <a:t>main → CI passes → Docker build → Fly.io deploy</a:t>
            </a:r>
          </a:p>
          <a:p>
            <a:pPr lvl="1"/>
            <a:r>
              <a:rPr sz="1700"/>
              <a:t>→ health check → smoke test → live</a:t>
            </a:r>
          </a:p>
          <a:p>
            <a:pPr lvl="1"/>
            <a:r>
              <a:rPr sz="1700"/>
              <a:t>if: workflow_run.conclusion == 'success'</a:t>
            </a:r>
          </a:p>
          <a:p>
            <a:pPr/>
            <a:r>
              <a:rPr sz="2000"/>
              <a:t>The most important line in the workflow.</a:t>
            </a:r>
          </a:p>
          <a:p>
            <a:pPr/>
            <a:r>
              <a:rPr sz="2000"/>
              <a:t>condition, a broken build deploys itself.*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/>
              <a:t>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/>
              <a:t>Live: qvs-mim736.fly.dev</a:t>
            </a:r>
          </a:p>
          <a:p>
            <a:pPr/>
            <a:r>
              <a:rPr sz="2000"/>
              <a:t>Multi-stage Docker image, 78 MB</a:t>
            </a:r>
          </a:p>
          <a:p>
            <a:pPr/>
            <a:r>
              <a:rPr sz="2000"/>
              <a:t>Runs as unprivileged uid 10001</a:t>
            </a:r>
          </a:p>
          <a:p>
            <a:pPr/>
            <a:r>
              <a:rPr sz="2000"/>
              <a:t>Fly.io · Johannesburg · TLS at the edge</a:t>
            </a:r>
          </a:p>
          <a:p>
            <a:pPr/>
            <a:r>
              <a:rPr sz="2000"/>
              <a:t>Health checks passing · encrypted volume with snapshots</a:t>
            </a:r>
          </a:p>
          <a:p>
            <a:pPr/>
            <a:r>
              <a:rPr sz="2000"/>
              <a:t>15 of 15 live functional checks passed</a:t>
            </a:r>
          </a:p>
          <a:p>
            <a:pPr/>
            <a:r>
              <a:rPr sz="2000"/>
              <a:t>it — a complete write-then-read cycle, not just serving seeded data.*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/>
              <a:t>What deployment taught 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/>
              <a:t>HSTS was not working on the live site.</a:t>
            </a:r>
          </a:p>
          <a:p>
            <a:pPr/>
            <a:r>
              <a:rPr sz="2000"/>
              <a:t>Fly terminates TLS at the edge → Flask saw plain HTTP</a:t>
            </a:r>
          </a:p>
          <a:p>
            <a:pPr/>
            <a:r>
              <a:rPr sz="2000"/>
              <a:t>Passed 255 tests, clean lint, clean security scan</a:t>
            </a:r>
          </a:p>
          <a:p>
            <a:pPr/>
            <a:r>
              <a:rPr sz="2000"/>
              <a:t>Found by curl in seconds</a:t>
            </a:r>
          </a:p>
          <a:p>
            <a:pPr/>
            <a:r>
              <a:rPr sz="2000"/>
              <a:t>Fixed with ProxyFix + 4 regression tests</a:t>
            </a:r>
          </a:p>
          <a:p>
            <a:pPr lvl="1"/>
            <a:r>
              <a:rPr sz="1700"/>
              <a:t>A pipeline gives confidence about the artefact it built —</a:t>
            </a:r>
          </a:p>
          <a:p>
            <a:pPr lvl="1"/>
            <a:r>
              <a:rPr sz="1700"/>
              <a:t>not the environment it runs in.</a:t>
            </a:r>
          </a:p>
          <a:p>
            <a:pPr/>
            <a:r>
              <a:rPr sz="2000"/>
              <a:t>engineering judgement rather than a feature tour.*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/>
              <a:t>Critical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/>
              <a:t>Worked well</a:t>
            </a:r>
          </a:p>
          <a:p>
            <a:pPr/>
            <a:r>
              <a:rPr sz="2000"/>
              <a:t>Layering · the pure verification function · enforcing invariants in code ·</a:t>
            </a:r>
          </a:p>
          <a:p>
            <a:pPr/>
            <a:r>
              <a:rPr sz="2000"/>
              <a:t>deploying early</a:t>
            </a:r>
          </a:p>
          <a:p>
            <a:pPr/>
            <a:r>
              <a:rPr sz="2000"/>
              <a:t>Would do differently</a:t>
            </a:r>
          </a:p>
          <a:p>
            <a:pPr/>
            <a:r>
              <a:rPr sz="2000"/>
              <a:t>Traceability matrix first · compile Tailwind (drop the CSP compromise) ·</a:t>
            </a:r>
          </a:p>
          <a:p>
            <a:pPr/>
            <a:r>
              <a:rPr sz="2000"/>
              <a:t>test controls against the real topology sooner</a:t>
            </a:r>
          </a:p>
          <a:p>
            <a:pPr/>
            <a:r>
              <a:rPr sz="2000"/>
              <a:t>Known limitations</a:t>
            </a:r>
          </a:p>
          <a:p>
            <a:pPr/>
            <a:r>
              <a:rPr sz="2000"/>
              <a:t>No browser or load testing · no staging · no account lockout yet · SQLite in the</a:t>
            </a:r>
          </a:p>
          <a:p>
            <a:pPr/>
            <a:r>
              <a:rPr sz="2000"/>
              <a:t>live deployment</a:t>
            </a:r>
          </a:p>
          <a:p>
            <a:pPr/>
            <a:r>
              <a:rPr sz="2000"/>
              <a:t>marks, and the willingness to name weaknesses is what distinguishes it.*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/>
              <a:t>Questions?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/>
              <a:t>Delivered</a:t>
            </a:r>
          </a:p>
          <a:p>
            <a:pPr/>
            <a:r>
              <a:rPr sz="2000"/>
              <a:t>A working, deployed verification system</a:t>
            </a:r>
          </a:p>
          <a:p>
            <a:pPr/>
            <a:r>
              <a:rPr sz="2000"/>
              <a:t>264 tests · 92.69% coverage · blocking quality gates</a:t>
            </a:r>
          </a:p>
          <a:p>
            <a:pPr/>
            <a:r>
              <a:rPr sz="2000"/>
              <a:t>Gated continuous delivery to a live environment</a:t>
            </a:r>
          </a:p>
          <a:p>
            <a:pPr/>
            <a:r>
              <a:rPr sz="2000"/>
              <a:t>Verified against reality, not just the pipeline</a:t>
            </a:r>
          </a:p>
          <a:p>
            <a:pPr/>
            <a:r>
              <a:rPr sz="2000"/>
              <a:t>What mattered most: the invariants — a verification cannot be recorded</a:t>
            </a:r>
          </a:p>
          <a:p>
            <a:pPr/>
            <a:r>
              <a:rPr sz="2000"/>
              <a:t>without being audited, and audit history cannot be rewritten.</a:t>
            </a:r>
          </a:p>
          <a:p>
            <a:pPr/>
            <a:r>
              <a:rPr sz="2000"/>
              <a:t>qvs-mim736.fly.dev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